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 name="Shape 86"/>
        <p:cNvGrpSpPr/>
        <p:nvPr/>
      </p:nvGrpSpPr>
      <p:grpSpPr>
        <a:xfrm>
          <a:off x="0" y="0"/>
          <a:ext cx="0" cy="0"/>
          <a:chOff x="0" y="0"/>
          <a:chExt cx="0" cy="0"/>
        </a:xfrm>
      </p:grpSpPr>
      <p:sp>
        <p:nvSpPr>
          <p:cNvPr id="87" name="Google Shape;87;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8" name="Google Shape;88;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 name="Shape 92"/>
        <p:cNvGrpSpPr/>
        <p:nvPr/>
      </p:nvGrpSpPr>
      <p:grpSpPr>
        <a:xfrm>
          <a:off x="0" y="0"/>
          <a:ext cx="0" cy="0"/>
          <a:chOff x="0" y="0"/>
          <a:chExt cx="0" cy="0"/>
        </a:xfrm>
      </p:grpSpPr>
      <p:sp>
        <p:nvSpPr>
          <p:cNvPr id="93" name="Google Shape;93;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6" name="Google Shape;106;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8" name="Google Shape;118;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 name="Shape 122"/>
        <p:cNvGrpSpPr/>
        <p:nvPr/>
      </p:nvGrpSpPr>
      <p:grpSpPr>
        <a:xfrm>
          <a:off x="0" y="0"/>
          <a:ext cx="0" cy="0"/>
          <a:chOff x="0" y="0"/>
          <a:chExt cx="0" cy="0"/>
        </a:xfrm>
      </p:grpSpPr>
      <p:sp>
        <p:nvSpPr>
          <p:cNvPr id="123" name="Google Shape;123;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4" name="Google Shape;124;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128"/>
        <p:cNvGrpSpPr/>
        <p:nvPr/>
      </p:nvGrpSpPr>
      <p:grpSpPr>
        <a:xfrm>
          <a:off x="0" y="0"/>
          <a:ext cx="0" cy="0"/>
          <a:chOff x="0" y="0"/>
          <a:chExt cx="0" cy="0"/>
        </a:xfrm>
      </p:grpSpPr>
      <p:sp>
        <p:nvSpPr>
          <p:cNvPr id="129" name="Google Shape;129;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 name="Shape 134"/>
        <p:cNvGrpSpPr/>
        <p:nvPr/>
      </p:nvGrpSpPr>
      <p:grpSpPr>
        <a:xfrm>
          <a:off x="0" y="0"/>
          <a:ext cx="0" cy="0"/>
          <a:chOff x="0" y="0"/>
          <a:chExt cx="0" cy="0"/>
        </a:xfrm>
      </p:grpSpPr>
      <p:sp>
        <p:nvSpPr>
          <p:cNvPr id="135" name="Google Shape;135;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6" name="Google Shape;136;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 name="Shape 146"/>
        <p:cNvGrpSpPr/>
        <p:nvPr/>
      </p:nvGrpSpPr>
      <p:grpSpPr>
        <a:xfrm>
          <a:off x="0" y="0"/>
          <a:ext cx="0" cy="0"/>
          <a:chOff x="0" y="0"/>
          <a:chExt cx="0" cy="0"/>
        </a:xfrm>
      </p:grpSpPr>
      <p:sp>
        <p:nvSpPr>
          <p:cNvPr id="147" name="Google Shape;147;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1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8" name="Shape 158"/>
        <p:cNvGrpSpPr/>
        <p:nvPr/>
      </p:nvGrpSpPr>
      <p:grpSpPr>
        <a:xfrm>
          <a:off x="0" y="0"/>
          <a:ext cx="0" cy="0"/>
          <a:chOff x="0" y="0"/>
          <a:chExt cx="0" cy="0"/>
        </a:xfrm>
      </p:grpSpPr>
      <p:sp>
        <p:nvSpPr>
          <p:cNvPr id="159" name="Google Shape;159;p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0" name="Google Shape;160;p1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4" name="Shape 164"/>
        <p:cNvGrpSpPr/>
        <p:nvPr/>
      </p:nvGrpSpPr>
      <p:grpSpPr>
        <a:xfrm>
          <a:off x="0" y="0"/>
          <a:ext cx="0" cy="0"/>
          <a:chOff x="0" y="0"/>
          <a:chExt cx="0" cy="0"/>
        </a:xfrm>
      </p:grpSpPr>
      <p:sp>
        <p:nvSpPr>
          <p:cNvPr id="165" name="Google Shape;165;p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6" name="Google Shape;166;p1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0" name="Shape 170"/>
        <p:cNvGrpSpPr/>
        <p:nvPr/>
      </p:nvGrpSpPr>
      <p:grpSpPr>
        <a:xfrm>
          <a:off x="0" y="0"/>
          <a:ext cx="0" cy="0"/>
          <a:chOff x="0" y="0"/>
          <a:chExt cx="0" cy="0"/>
        </a:xfrm>
      </p:grpSpPr>
      <p:sp>
        <p:nvSpPr>
          <p:cNvPr id="171" name="Google Shape;171;p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1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6" name="Shape 176"/>
        <p:cNvGrpSpPr/>
        <p:nvPr/>
      </p:nvGrpSpPr>
      <p:grpSpPr>
        <a:xfrm>
          <a:off x="0" y="0"/>
          <a:ext cx="0" cy="0"/>
          <a:chOff x="0" y="0"/>
          <a:chExt cx="0" cy="0"/>
        </a:xfrm>
      </p:grpSpPr>
      <p:sp>
        <p:nvSpPr>
          <p:cNvPr id="177" name="Google Shape;177;p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8" name="Google Shape;178;p1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2" name="Shape 182"/>
        <p:cNvGrpSpPr/>
        <p:nvPr/>
      </p:nvGrpSpPr>
      <p:grpSpPr>
        <a:xfrm>
          <a:off x="0" y="0"/>
          <a:ext cx="0" cy="0"/>
          <a:chOff x="0" y="0"/>
          <a:chExt cx="0" cy="0"/>
        </a:xfrm>
      </p:grpSpPr>
      <p:sp>
        <p:nvSpPr>
          <p:cNvPr id="183" name="Google Shape;183;p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4" name="Google Shape;184;p1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0" name="Google Shape;20;p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2" name="Google Shape;32;p5"/>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3" name="Google Shape;33;p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39" name="Google Shape;39;p6"/>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0" name="Google Shape;40;p6"/>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1" name="Google Shape;41;p6"/>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2" name="Google Shape;42;p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0" name="Shape 50"/>
        <p:cNvGrpSpPr/>
        <p:nvPr/>
      </p:nvGrpSpPr>
      <p:grpSpPr>
        <a:xfrm>
          <a:off x="0" y="0"/>
          <a:ext cx="0" cy="0"/>
          <a:chOff x="0" y="0"/>
          <a:chExt cx="0" cy="0"/>
        </a:xfrm>
      </p:grpSpPr>
      <p:sp>
        <p:nvSpPr>
          <p:cNvPr id="51" name="Google Shape;51;p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1792288" y="612775"/>
            <a:ext cx="5486400" cy="4114800"/>
          </a:xfrm>
          <a:prstGeom prst="rect">
            <a:avLst/>
          </a:prstGeom>
          <a:noFill/>
          <a:ln>
            <a:noFill/>
          </a:ln>
        </p:spPr>
      </p:sp>
      <p:sp>
        <p:nvSpPr>
          <p:cNvPr id="64" name="Google Shape;64;p1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1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9pPr>
          </a:lstStyle>
          <a:p/>
        </p:txBody>
      </p:sp>
      <p:sp>
        <p:nvSpPr>
          <p:cNvPr id="8" name="Google Shape;8;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9" name="Google Shape;9;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0" name="Google Shape;10;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hyperlink" Target="https://twitter.com/intent/tweet?source=webclient&amp;amp;via=atlassian&amp;amp;text=Trend%203:%20digital%20integrates%20with%20material&amp;amp;url=https://www.atlassian.com/blog/devops/3-reasons-devops-cloud-need" TargetMode="External"/><Relationship Id="rId2" Type="http://schemas.openxmlformats.org/officeDocument/2006/relationships/hyperlink" Target="https://twitter.com/intent/tweet?source=webclient&amp;amp;via=atlassian&amp;amp;text=Trend%202:%20from%20stability%20to%20agility&amp;amp;url=https://www.atlassian.com/blog/devops/3-reasons-devops-cloud-need" TargetMode="External"/><Relationship Id="rId1" Type="http://schemas.openxmlformats.org/officeDocument/2006/relationships/hyperlink" Target="https://twitter.com/intent/tweet?source=webclient&amp;amp;via=atlassian&amp;amp;text=Trend%201:%20the%20move%20from%20product%20to%20service&amp;amp;url=https://www.atlassian.com/blog/devops/3-reasons-devops-cloud-need"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hyperlink" Target="https://twitter.com/intent/tweet?source=webclient&amp;amp;via=atlassian&amp;amp;text=Trend%201:%20the%20move%20from%20product%20to%20service&amp;amp;url=https://www.atlassian.com/blog/devops/3-reasons-devops-cloud-need"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hyperlink" Target="https://twitter.com/intent/tweet?source=webclient&amp;amp;via=atlassian&amp;amp;text=Trend%202:%20from%20stability%20to%20agility&amp;amp;url=https://www.atlassian.com/blog/devops/3-reasons-devops-cloud-need"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hyperlink" Target="https://twitter.com/intent/tweet?source=webclient&amp;amp;via=atlassian&amp;amp;text=Trend%203:%20digital%20integrates%20with%20material&amp;amp;url=https://www.atlassian.com/blog/devops/3-reasons-devops-cloud-need"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Topic: Why we need DevOps on cloud</a:t>
            </a:r>
            <a:endParaRPr lang="en-US"/>
          </a:p>
        </p:txBody>
      </p:sp>
      <p:sp>
        <p:nvSpPr>
          <p:cNvPr id="85" name="Google Shape;85;p1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89" name="Shape 89"/>
        <p:cNvGrpSpPr/>
        <p:nvPr/>
      </p:nvGrpSpPr>
      <p:grpSpPr>
        <a:xfrm>
          <a:off x="0" y="0"/>
          <a:ext cx="0" cy="0"/>
          <a:chOff x="0" y="0"/>
          <a:chExt cx="0" cy="0"/>
        </a:xfrm>
      </p:grpSpPr>
      <p:sp>
        <p:nvSpPr>
          <p:cNvPr id="90" name="Google Shape;90;p1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p>
        </p:txBody>
      </p:sp>
      <p:sp>
        <p:nvSpPr>
          <p:cNvPr id="91" name="Google Shape;91;p1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spcBef>
                <a:spcPts val="0"/>
              </a:spcBef>
              <a:spcAft>
                <a:spcPts val="0"/>
              </a:spcAft>
              <a:buClr>
                <a:schemeClr val="dk1"/>
              </a:buClr>
              <a:buSzPct val="100000"/>
              <a:buChar char="•"/>
            </a:pPr>
            <a:r>
              <a:rPr lang="en-US"/>
              <a:t>DevOps is a software engineering practice that is suited to cloud computing. </a:t>
            </a:r>
            <a:endParaRPr lang="en-US"/>
          </a:p>
          <a:p>
            <a:pPr marL="342900" lvl="0" indent="-342900" algn="l" rtl="0">
              <a:spcBef>
                <a:spcPts val="545"/>
              </a:spcBef>
              <a:spcAft>
                <a:spcPts val="0"/>
              </a:spcAft>
              <a:buClr>
                <a:schemeClr val="dk1"/>
              </a:buClr>
              <a:buSzPct val="100000"/>
              <a:buChar char="•"/>
            </a:pPr>
            <a:r>
              <a:rPr lang="en-US"/>
              <a:t>In a DevOps environment, developers collaborate with IT operations and other teams. </a:t>
            </a:r>
            <a:endParaRPr lang="en-US"/>
          </a:p>
          <a:p>
            <a:pPr marL="342900" lvl="0" indent="-342900" algn="l" rtl="0">
              <a:spcBef>
                <a:spcPts val="545"/>
              </a:spcBef>
              <a:spcAft>
                <a:spcPts val="0"/>
              </a:spcAft>
              <a:buClr>
                <a:schemeClr val="dk1"/>
              </a:buClr>
              <a:buSzPct val="100000"/>
              <a:buChar char="•"/>
            </a:pPr>
            <a:r>
              <a:rPr lang="en-US"/>
              <a:t>DevOps goes beyond continuous integration and continuous delivery (CI/CD) to enable near-instantaneous deployment of products and services in the cloud. </a:t>
            </a:r>
            <a:endParaRPr lang="en-US"/>
          </a:p>
          <a:p>
            <a:pPr marL="342900" lvl="0" indent="-342900" algn="l" rtl="0">
              <a:spcBef>
                <a:spcPts val="545"/>
              </a:spcBef>
              <a:spcAft>
                <a:spcPts val="0"/>
              </a:spcAft>
              <a:buClr>
                <a:schemeClr val="dk1"/>
              </a:buClr>
              <a:buSzPct val="100000"/>
              <a:buChar char="•"/>
            </a:pPr>
            <a:r>
              <a:rPr lang="en-US"/>
              <a:t>The agility and flexibility of the DevOps framework enables organizations to adapt quickly to marketplace demands and maintain a competitive edge.</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5" name="Shape 95"/>
        <p:cNvGrpSpPr/>
        <p:nvPr/>
      </p:nvGrpSpPr>
      <p:grpSpPr>
        <a:xfrm>
          <a:off x="0" y="0"/>
          <a:ext cx="0" cy="0"/>
          <a:chOff x="0" y="0"/>
          <a:chExt cx="0" cy="0"/>
        </a:xfrm>
      </p:grpSpPr>
      <p:sp>
        <p:nvSpPr>
          <p:cNvPr id="96" name="Google Shape;96;p15"/>
          <p:cNvSpPr txBox="1"/>
          <p:nvPr>
            <p:ph type="title"/>
          </p:nvPr>
        </p:nvSpPr>
        <p:spPr>
          <a:xfrm>
            <a:off x="457200" y="274638"/>
            <a:ext cx="8229600" cy="1401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Cloud Computing and the DevOps Approach</a:t>
            </a:r>
            <a:br>
              <a:rPr lang="en-US"/>
            </a:br>
            <a:endParaRPr lang="en-US"/>
          </a:p>
        </p:txBody>
      </p:sp>
      <p:sp>
        <p:nvSpPr>
          <p:cNvPr id="97" name="Google Shape;97;p15"/>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Char char="•"/>
            </a:pPr>
            <a:r>
              <a:rPr lang="en-US"/>
              <a:t>When DevOps teams work in the cloud, they enjoy easier access to scalable hardware resources that can help build, test, and deploy new updates and offerings more quickly.</a:t>
            </a:r>
            <a:endParaRPr lang="en-US"/>
          </a:p>
          <a:p>
            <a:pPr marL="342900" lvl="0" indent="-342900" algn="l" rtl="0">
              <a:spcBef>
                <a:spcPts val="545"/>
              </a:spcBef>
              <a:spcAft>
                <a:spcPts val="0"/>
              </a:spcAft>
              <a:buClr>
                <a:schemeClr val="dk1"/>
              </a:buClr>
              <a:buSzPct val="100000"/>
              <a:buChar char="•"/>
            </a:pPr>
            <a:r>
              <a:rPr lang="en-US"/>
              <a:t>The popularity of cloud application delivery has led to widespread adoption of DevOps methods because they are well suited to the rapid, ongoing processes that are a key benefit of cloud operations.</a:t>
            </a:r>
            <a:endParaRPr lang="en-US"/>
          </a:p>
          <a:p>
            <a:pPr marL="342900" lvl="0" indent="-342900" algn="l" rtl="0">
              <a:spcBef>
                <a:spcPts val="545"/>
              </a:spcBef>
              <a:spcAft>
                <a:spcPts val="0"/>
              </a:spcAft>
              <a:buClr>
                <a:schemeClr val="dk1"/>
              </a:buClr>
              <a:buSzPct val="100000"/>
              <a:buChar char="•"/>
            </a:pPr>
            <a:r>
              <a:rPr lang="en-US"/>
              <a:t>In a traditional application delivery environment, a finished application might be handed off to IT operations for maintenance, with future upgrades managed on a predetermined schedule.</a:t>
            </a:r>
            <a:endParaRPr lang="en-US"/>
          </a:p>
          <a:p>
            <a:pPr marL="342900" lvl="0" indent="-170180" algn="l" rtl="0">
              <a:spcBef>
                <a:spcPts val="545"/>
              </a:spcBef>
              <a:spcAft>
                <a:spcPts val="0"/>
              </a:spcAft>
              <a:buClr>
                <a:schemeClr val="dk1"/>
              </a:buClr>
              <a:buSzPct val="100000"/>
              <a:buNone/>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p>
        </p:txBody>
      </p:sp>
      <p:sp>
        <p:nvSpPr>
          <p:cNvPr id="103" name="Google Shape;103;p16"/>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a:t>In cloud computing, however, the application stack is likely to continue changing after its initial deployment. </a:t>
            </a:r>
            <a:endParaRPr lang="en-US"/>
          </a:p>
          <a:p>
            <a:pPr marL="342900" lvl="0" indent="-342900" algn="l" rtl="0">
              <a:spcBef>
                <a:spcPts val="590"/>
              </a:spcBef>
              <a:spcAft>
                <a:spcPts val="0"/>
              </a:spcAft>
              <a:buClr>
                <a:schemeClr val="dk1"/>
              </a:buClr>
              <a:buSzPct val="100000"/>
              <a:buChar char="•"/>
            </a:pPr>
            <a:r>
              <a:rPr lang="en-US"/>
              <a:t>That dynamism is a benefit because it helps the organization to continue improving its products and services. </a:t>
            </a:r>
            <a:endParaRPr lang="en-US"/>
          </a:p>
          <a:p>
            <a:pPr marL="342900" lvl="0" indent="-342900" algn="l" rtl="0">
              <a:spcBef>
                <a:spcPts val="590"/>
              </a:spcBef>
              <a:spcAft>
                <a:spcPts val="0"/>
              </a:spcAft>
              <a:buClr>
                <a:schemeClr val="dk1"/>
              </a:buClr>
              <a:buSzPct val="100000"/>
              <a:buChar char="•"/>
            </a:pPr>
            <a:r>
              <a:rPr lang="en-US"/>
              <a:t>Those rapid iterations also pose a challenge, and a DevOps framework helps organizations to remain responsive and competitive in a rapidly evolving marketplace.</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p>
        </p:txBody>
      </p:sp>
      <p:sp>
        <p:nvSpPr>
          <p:cNvPr id="109" name="Google Shape;109;p17"/>
          <p:cNvSpPr txBox="1"/>
          <p:nvPr>
            <p:ph type="body" idx="1"/>
          </p:nvPr>
        </p:nvSpPr>
        <p:spPr>
          <a:xfrm>
            <a:off x="457200" y="1600200"/>
            <a:ext cx="8229600" cy="51054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 Dev Ops team can be more efficient as well. </a:t>
            </a:r>
            <a:endParaRPr lang="en-US"/>
          </a:p>
          <a:p>
            <a:pPr marL="342900" lvl="0" indent="-139700" algn="l" rtl="0">
              <a:spcBef>
                <a:spcPts val="640"/>
              </a:spcBef>
              <a:spcAft>
                <a:spcPts val="0"/>
              </a:spcAft>
              <a:buClr>
                <a:schemeClr val="dk1"/>
              </a:buClr>
              <a:buSzPts val="3200"/>
              <a:buNone/>
            </a:pPr>
          </a:p>
          <a:p>
            <a:pPr marL="0" lvl="0" indent="0" algn="l" rtl="0">
              <a:spcBef>
                <a:spcPts val="640"/>
              </a:spcBef>
              <a:spcAft>
                <a:spcPts val="0"/>
              </a:spcAft>
              <a:buClr>
                <a:schemeClr val="dk1"/>
              </a:buClr>
              <a:buSzPts val="3200"/>
              <a:buNone/>
            </a:pPr>
            <a:r>
              <a:rPr lang="en-US"/>
              <a:t>For example, the multidisciplinary team can take advantage of virtualization and containerization in the cloud to develop and test applications in identical environments simultaneously and to provision additional resources as needed.</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p>
        </p:txBody>
      </p:sp>
      <p:sp>
        <p:nvSpPr>
          <p:cNvPr id="115" name="Google Shape;115;p18"/>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spcBef>
                <a:spcPts val="0"/>
              </a:spcBef>
              <a:spcAft>
                <a:spcPts val="0"/>
              </a:spcAft>
              <a:buClr>
                <a:schemeClr val="dk1"/>
              </a:buClr>
              <a:buSzPct val="100000"/>
              <a:buChar char="•"/>
            </a:pPr>
            <a:r>
              <a:rPr lang="en-US"/>
              <a:t>DevOps best practices are becoming essential to the success of cloud application development, especially for the “as a Service” (XaaS) product delivery method. </a:t>
            </a:r>
            <a:endParaRPr lang="en-US"/>
          </a:p>
          <a:p>
            <a:pPr marL="342900" lvl="0" indent="-170180" algn="l" rtl="0">
              <a:spcBef>
                <a:spcPts val="545"/>
              </a:spcBef>
              <a:spcAft>
                <a:spcPts val="0"/>
              </a:spcAft>
              <a:buClr>
                <a:schemeClr val="dk1"/>
              </a:buClr>
              <a:buSzPct val="100000"/>
              <a:buNone/>
            </a:pPr>
          </a:p>
          <a:p>
            <a:pPr marL="342900" lvl="0" indent="-342900" algn="l" rtl="0">
              <a:spcBef>
                <a:spcPts val="545"/>
              </a:spcBef>
              <a:spcAft>
                <a:spcPts val="0"/>
              </a:spcAft>
              <a:buClr>
                <a:schemeClr val="dk1"/>
              </a:buClr>
              <a:buSzPct val="100000"/>
              <a:buChar char="•"/>
            </a:pPr>
            <a:r>
              <a:rPr lang="en-US"/>
              <a:t>XaaS applications are deployed in ongoing, continuous cycles. </a:t>
            </a:r>
            <a:endParaRPr lang="en-US"/>
          </a:p>
          <a:p>
            <a:pPr marL="342900" lvl="0" indent="-170180" algn="l" rtl="0">
              <a:spcBef>
                <a:spcPts val="545"/>
              </a:spcBef>
              <a:spcAft>
                <a:spcPts val="0"/>
              </a:spcAft>
              <a:buClr>
                <a:schemeClr val="dk1"/>
              </a:buClr>
              <a:buSzPct val="100000"/>
              <a:buNone/>
            </a:pPr>
          </a:p>
          <a:p>
            <a:pPr marL="342900" lvl="0" indent="-342900" algn="l" rtl="0">
              <a:spcBef>
                <a:spcPts val="545"/>
              </a:spcBef>
              <a:spcAft>
                <a:spcPts val="0"/>
              </a:spcAft>
              <a:buClr>
                <a:schemeClr val="dk1"/>
              </a:buClr>
              <a:buSzPct val="100000"/>
              <a:buChar char="•"/>
            </a:pPr>
            <a:r>
              <a:rPr lang="en-US"/>
              <a:t>Organizations pursuing XaaS delivery require a nimble development process supported by flexible cloud resources that can scale and evolve quickly to meet new demands in the marketplace.</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Applying DevOps Benefits</a:t>
            </a:r>
            <a:br>
              <a:rPr lang="en-US"/>
            </a:br>
            <a:endParaRPr lang="en-US"/>
          </a:p>
        </p:txBody>
      </p:sp>
      <p:sp>
        <p:nvSpPr>
          <p:cNvPr id="121" name="Google Shape;121;p19"/>
          <p:cNvSpPr txBox="1"/>
          <p:nvPr>
            <p:ph type="body" idx="1"/>
          </p:nvPr>
        </p:nvSpPr>
        <p:spPr>
          <a:xfrm>
            <a:off x="457200" y="914400"/>
            <a:ext cx="8229600" cy="52117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In a DevOps framework, code is released faster and more frequently than in other development approaches. New features can be delivered to the market sooner, as can bug fixes, so products and services can be adapted to suit customers’ needs.</a:t>
            </a:r>
            <a:endParaRPr lang="en-US"/>
          </a:p>
          <a:p>
            <a:pPr marL="0" lvl="0" indent="0" algn="l" rtl="0">
              <a:spcBef>
                <a:spcPts val="640"/>
              </a:spcBef>
              <a:spcAft>
                <a:spcPts val="0"/>
              </a:spcAft>
              <a:buClr>
                <a:schemeClr val="dk1"/>
              </a:buClr>
              <a:buSzPts val="3200"/>
              <a:buNone/>
            </a:pPr>
          </a:p>
          <a:p>
            <a:pPr marL="342900" lvl="0" indent="-139700" algn="l" rtl="0">
              <a:spcBef>
                <a:spcPts val="640"/>
              </a:spcBef>
              <a:spcAft>
                <a:spcPts val="0"/>
              </a:spcAft>
              <a:buClr>
                <a:schemeClr val="dk1"/>
              </a:buClr>
              <a:buSzPts val="3200"/>
              <a:buNone/>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25" name="Shape 125"/>
        <p:cNvGrpSpPr/>
        <p:nvPr/>
      </p:nvGrpSpPr>
      <p:grpSpPr>
        <a:xfrm>
          <a:off x="0" y="0"/>
          <a:ext cx="0" cy="0"/>
          <a:chOff x="0" y="0"/>
          <a:chExt cx="0" cy="0"/>
        </a:xfrm>
      </p:grpSpPr>
      <p:sp>
        <p:nvSpPr>
          <p:cNvPr id="126" name="Google Shape;126;p20"/>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p>
        </p:txBody>
      </p:sp>
      <p:sp>
        <p:nvSpPr>
          <p:cNvPr id="127" name="Google Shape;127;p20"/>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With its constant iterations, monitoring, and testing, the DevOps methodology supports ongoing improvement and innovation for cloud applications. In addition to providing a positive user experience, this aspect of DevOps can confer a strong competitive advantage.</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31" name="Shape 131"/>
        <p:cNvGrpSpPr/>
        <p:nvPr/>
      </p:nvGrpSpPr>
      <p:grpSpPr>
        <a:xfrm>
          <a:off x="0" y="0"/>
          <a:ext cx="0" cy="0"/>
          <a:chOff x="0" y="0"/>
          <a:chExt cx="0" cy="0"/>
        </a:xfrm>
      </p:grpSpPr>
      <p:sp>
        <p:nvSpPr>
          <p:cNvPr id="132" name="Google Shape;132;p2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p>
        </p:txBody>
      </p:sp>
      <p:sp>
        <p:nvSpPr>
          <p:cNvPr id="133" name="Google Shape;133;p2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DevOps can also help organizations to remain compliant with security best practices and regulations. Security management can be integrated, automated, and monitored continuously within the DevOps framework for better control and greater responsiveness</a:t>
            </a:r>
            <a:endParaRPr lang="en-US"/>
          </a:p>
          <a:p>
            <a:pPr marL="342900" lvl="0" indent="-139700" algn="l" rtl="0">
              <a:spcBef>
                <a:spcPts val="640"/>
              </a:spcBef>
              <a:spcAft>
                <a:spcPts val="0"/>
              </a:spcAft>
              <a:buClr>
                <a:schemeClr val="dk1"/>
              </a:buClr>
              <a:buSzPts val="3200"/>
              <a:buNone/>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37" name="Shape 137"/>
        <p:cNvGrpSpPr/>
        <p:nvPr/>
      </p:nvGrpSpPr>
      <p:grpSpPr>
        <a:xfrm>
          <a:off x="0" y="0"/>
          <a:ext cx="0" cy="0"/>
          <a:chOff x="0" y="0"/>
          <a:chExt cx="0" cy="0"/>
        </a:xfrm>
      </p:grpSpPr>
      <p:sp>
        <p:nvSpPr>
          <p:cNvPr id="138" name="Google Shape;138;p2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p>
        </p:txBody>
      </p:sp>
      <p:sp>
        <p:nvSpPr>
          <p:cNvPr id="139" name="Google Shape;139;p22"/>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6600"/>
              <a:buNone/>
            </a:pPr>
            <a:r>
              <a:rPr lang="en-US" sz="6600" b="1"/>
              <a:t>3 reasons DevOps and the cloud need each other</a:t>
            </a:r>
            <a:endParaRPr lang="en-US" sz="6600" b="1"/>
          </a:p>
          <a:p>
            <a:pPr marL="342900" lvl="0" indent="0" algn="ctr" rtl="0">
              <a:spcBef>
                <a:spcPts val="1320"/>
              </a:spcBef>
              <a:spcAft>
                <a:spcPts val="0"/>
              </a:spcAft>
              <a:buClr>
                <a:schemeClr val="dk1"/>
              </a:buClr>
              <a:buSzPts val="6600"/>
              <a:buNone/>
            </a:pPr>
            <a:endParaRPr sz="66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43" name="Shape 143"/>
        <p:cNvGrpSpPr/>
        <p:nvPr/>
      </p:nvGrpSpPr>
      <p:grpSpPr>
        <a:xfrm>
          <a:off x="0" y="0"/>
          <a:ext cx="0" cy="0"/>
          <a:chOff x="0" y="0"/>
          <a:chExt cx="0" cy="0"/>
        </a:xfrm>
      </p:grpSpPr>
      <p:sp>
        <p:nvSpPr>
          <p:cNvPr id="144" name="Google Shape;144;p2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2800"/>
              <a:buFont typeface="Calibri"/>
              <a:buNone/>
            </a:pPr>
            <a:r>
              <a:rPr lang="en-US" sz="2800"/>
              <a:t>3 trends that show how a DevOps and cloud approach is needed in the technology market today</a:t>
            </a:r>
            <a:endParaRPr sz="2800"/>
          </a:p>
        </p:txBody>
      </p:sp>
      <p:sp>
        <p:nvSpPr>
          <p:cNvPr id="145" name="Google Shape;145;p23"/>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u="sng">
                <a:solidFill>
                  <a:schemeClr val="hlink"/>
                </a:solidFill>
                <a:hlinkClick r:id="rId1"/>
              </a:rPr>
              <a:t>Trend 1: the move from product to service</a:t>
            </a:r>
            <a:endParaRPr u="sng"/>
          </a:p>
          <a:p>
            <a:pPr marL="342900" lvl="0" indent="-139700" algn="l" rtl="0">
              <a:spcBef>
                <a:spcPts val="640"/>
              </a:spcBef>
              <a:spcAft>
                <a:spcPts val="0"/>
              </a:spcAft>
              <a:buClr>
                <a:schemeClr val="dk1"/>
              </a:buClr>
              <a:buSzPts val="3200"/>
              <a:buNone/>
            </a:pPr>
            <a:endParaRPr u="sng"/>
          </a:p>
          <a:p>
            <a:pPr marL="342900" lvl="0" indent="-139700" algn="l" rtl="0">
              <a:spcBef>
                <a:spcPts val="640"/>
              </a:spcBef>
              <a:spcAft>
                <a:spcPts val="0"/>
              </a:spcAft>
              <a:buClr>
                <a:schemeClr val="dk1"/>
              </a:buClr>
              <a:buSzPts val="3200"/>
              <a:buNone/>
            </a:pPr>
            <a:endParaRPr u="sng">
              <a:solidFill>
                <a:schemeClr val="hlink"/>
              </a:solidFill>
              <a:hlinkClick r:id="rId2"/>
            </a:endParaRPr>
          </a:p>
          <a:p>
            <a:pPr marL="342900" lvl="0" indent="-342900" algn="l" rtl="0">
              <a:spcBef>
                <a:spcPts val="640"/>
              </a:spcBef>
              <a:spcAft>
                <a:spcPts val="0"/>
              </a:spcAft>
              <a:buClr>
                <a:schemeClr val="dk1"/>
              </a:buClr>
              <a:buSzPts val="3200"/>
              <a:buChar char="•"/>
            </a:pPr>
            <a:r>
              <a:rPr lang="en-US" u="sng">
                <a:solidFill>
                  <a:schemeClr val="hlink"/>
                </a:solidFill>
                <a:hlinkClick r:id="rId2"/>
              </a:rPr>
              <a:t>Trend 2: from stability to agility</a:t>
            </a:r>
            <a:endParaRPr u="sng"/>
          </a:p>
          <a:p>
            <a:pPr marL="342900" lvl="0" indent="-139700" algn="l" rtl="0">
              <a:spcBef>
                <a:spcPts val="640"/>
              </a:spcBef>
              <a:spcAft>
                <a:spcPts val="0"/>
              </a:spcAft>
              <a:buClr>
                <a:schemeClr val="dk1"/>
              </a:buClr>
              <a:buSzPts val="3200"/>
              <a:buNone/>
            </a:pPr>
            <a:endParaRPr u="sng"/>
          </a:p>
          <a:p>
            <a:pPr marL="342900" lvl="0" indent="-139700" algn="l" rtl="0">
              <a:spcBef>
                <a:spcPts val="640"/>
              </a:spcBef>
              <a:spcAft>
                <a:spcPts val="0"/>
              </a:spcAft>
              <a:buClr>
                <a:schemeClr val="dk1"/>
              </a:buClr>
              <a:buSzPts val="3200"/>
              <a:buNone/>
            </a:pPr>
            <a:endParaRPr u="sng"/>
          </a:p>
          <a:p>
            <a:pPr marL="342900" lvl="0" indent="-342900" algn="l" rtl="0">
              <a:spcBef>
                <a:spcPts val="640"/>
              </a:spcBef>
              <a:spcAft>
                <a:spcPts val="0"/>
              </a:spcAft>
              <a:buClr>
                <a:schemeClr val="dk1"/>
              </a:buClr>
              <a:buSzPts val="3200"/>
              <a:buChar char="•"/>
            </a:pPr>
            <a:r>
              <a:rPr lang="en-US" u="sng">
                <a:solidFill>
                  <a:schemeClr val="hlink"/>
                </a:solidFill>
                <a:hlinkClick r:id="rId3"/>
              </a:rPr>
              <a:t>Trend 3: digital integrates with material</a:t>
            </a:r>
            <a:endParaRPr u="sng"/>
          </a:p>
          <a:p>
            <a:pPr marL="342900" lvl="0" indent="-139700" algn="l" rtl="0">
              <a:spcBef>
                <a:spcPts val="640"/>
              </a:spcBef>
              <a:spcAft>
                <a:spcPts val="0"/>
              </a:spcAft>
              <a:buClr>
                <a:schemeClr val="dk1"/>
              </a:buClr>
              <a:buSzPts val="3200"/>
              <a:buNone/>
            </a:pPr>
            <a:endParaRPr u="sng"/>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457200" y="685800"/>
            <a:ext cx="8229600" cy="8382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u="sng">
                <a:solidFill>
                  <a:schemeClr val="hlink"/>
                </a:solidFill>
                <a:hlinkClick r:id="rId1"/>
              </a:rPr>
              <a:t>Trend 1: the move from product to service</a:t>
            </a:r>
            <a:br>
              <a:rPr lang="en-US" u="sng"/>
            </a:br>
            <a:endParaRPr lang="en-US" u="sng"/>
          </a:p>
        </p:txBody>
      </p:sp>
      <p:sp>
        <p:nvSpPr>
          <p:cNvPr id="151" name="Google Shape;151;p2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55000" lnSpcReduction="20000"/>
          </a:bodyPr>
          <a:lstStyle/>
          <a:p>
            <a:pPr marL="342900" lvl="0" indent="-342900" algn="l" rtl="0">
              <a:spcBef>
                <a:spcPts val="0"/>
              </a:spcBef>
              <a:spcAft>
                <a:spcPts val="0"/>
              </a:spcAft>
              <a:buClr>
                <a:schemeClr val="dk1"/>
              </a:buClr>
              <a:buSzPct val="100000"/>
              <a:buChar char="•"/>
            </a:pPr>
            <a:r>
              <a:rPr lang="en-US"/>
              <a:t>With the rise of cloud computing, every company has become a services company. </a:t>
            </a:r>
            <a:endParaRPr lang="en-US"/>
          </a:p>
          <a:p>
            <a:pPr marL="342900" lvl="0" indent="-231140" algn="l" rtl="0">
              <a:spcBef>
                <a:spcPts val="350"/>
              </a:spcBef>
              <a:spcAft>
                <a:spcPts val="0"/>
              </a:spcAft>
              <a:buClr>
                <a:schemeClr val="dk1"/>
              </a:buClr>
              <a:buSzPct val="100000"/>
              <a:buNone/>
            </a:pPr>
          </a:p>
          <a:p>
            <a:pPr marL="342900" lvl="0" indent="-342900" algn="l" rtl="0">
              <a:spcBef>
                <a:spcPts val="350"/>
              </a:spcBef>
              <a:spcAft>
                <a:spcPts val="0"/>
              </a:spcAft>
              <a:buClr>
                <a:schemeClr val="dk1"/>
              </a:buClr>
              <a:buSzPct val="100000"/>
              <a:buChar char="•"/>
            </a:pPr>
            <a:r>
              <a:rPr lang="en-US"/>
              <a:t>Consumers are not only looking for great products; they are searching for great experiences to accompany their use of these products. </a:t>
            </a:r>
            <a:endParaRPr lang="en-US"/>
          </a:p>
          <a:p>
            <a:pPr marL="342900" lvl="0" indent="-342900" algn="l" rtl="0">
              <a:spcBef>
                <a:spcPts val="350"/>
              </a:spcBef>
              <a:spcAft>
                <a:spcPts val="0"/>
              </a:spcAft>
              <a:buClr>
                <a:schemeClr val="dk1"/>
              </a:buClr>
              <a:buSzPct val="100000"/>
              <a:buChar char="•"/>
            </a:pPr>
            <a:r>
              <a:rPr lang="en-US"/>
              <a:t>IPhone and Android phones include customer service as part of their product package. </a:t>
            </a:r>
            <a:endParaRPr lang="en-US"/>
          </a:p>
          <a:p>
            <a:pPr marL="342900" lvl="0" indent="-231140" algn="l" rtl="0">
              <a:spcBef>
                <a:spcPts val="350"/>
              </a:spcBef>
              <a:spcAft>
                <a:spcPts val="0"/>
              </a:spcAft>
              <a:buClr>
                <a:schemeClr val="dk1"/>
              </a:buClr>
              <a:buSzPct val="100000"/>
              <a:buNone/>
            </a:pPr>
          </a:p>
          <a:p>
            <a:pPr marL="342900" lvl="0" indent="-342900" algn="l" rtl="0">
              <a:spcBef>
                <a:spcPts val="350"/>
              </a:spcBef>
              <a:spcAft>
                <a:spcPts val="0"/>
              </a:spcAft>
              <a:buClr>
                <a:schemeClr val="dk1"/>
              </a:buClr>
              <a:buSzPct val="100000"/>
              <a:buChar char="•"/>
            </a:pPr>
            <a:r>
              <a:rPr lang="en-US"/>
              <a:t>Computer and mobile technologies include GPS, bill paying, food delivery, shopping, maps, and online banking as services which accompany product delivery.</a:t>
            </a:r>
            <a:endParaRPr lang="en-US"/>
          </a:p>
          <a:p>
            <a:pPr marL="342900" lvl="0" indent="-342900" algn="l" rtl="0">
              <a:spcBef>
                <a:spcPts val="350"/>
              </a:spcBef>
              <a:spcAft>
                <a:spcPts val="0"/>
              </a:spcAft>
              <a:buClr>
                <a:schemeClr val="dk1"/>
              </a:buClr>
              <a:buSzPct val="100000"/>
              <a:buChar char="•"/>
            </a:pPr>
            <a:r>
              <a:rPr lang="en-US"/>
              <a:t>The progression from product as a concern to service as a priority requires that software delivery include the services of speed, innovation, frequency, and reliability. </a:t>
            </a:r>
            <a:endParaRPr lang="en-US"/>
          </a:p>
          <a:p>
            <a:pPr marL="342900" lvl="0" indent="-231140" algn="l" rtl="0">
              <a:spcBef>
                <a:spcPts val="350"/>
              </a:spcBef>
              <a:spcAft>
                <a:spcPts val="0"/>
              </a:spcAft>
              <a:buClr>
                <a:schemeClr val="dk1"/>
              </a:buClr>
              <a:buSzPct val="100000"/>
              <a:buNone/>
            </a:pPr>
          </a:p>
          <a:p>
            <a:pPr marL="342900" lvl="0" indent="-342900" algn="l" rtl="0">
              <a:spcBef>
                <a:spcPts val="350"/>
              </a:spcBef>
              <a:spcAft>
                <a:spcPts val="0"/>
              </a:spcAft>
              <a:buClr>
                <a:schemeClr val="dk1"/>
              </a:buClr>
              <a:buSzPct val="100000"/>
              <a:buChar char="•"/>
            </a:pPr>
            <a:r>
              <a:rPr lang="en-US"/>
              <a:t>Enterprise priorities, developers, and IT operations are continually challenged to provide and advance software as a service (SaaS).</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What to do about it:</a:t>
            </a:r>
            <a:endParaRPr lang="en-US" b="1"/>
          </a:p>
        </p:txBody>
      </p:sp>
      <p:sp>
        <p:nvSpPr>
          <p:cNvPr id="157" name="Google Shape;157;p25"/>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a:t> Cloud agility enhances Internet speed and flexibility, which consequently enables IT and Operations to transition from cumbersome machine-based functions to a greater focus on software as a service. </a:t>
            </a:r>
            <a:endParaRPr lang="en-US"/>
          </a:p>
          <a:p>
            <a:pPr marL="342900" lvl="0" indent="-154940" algn="l" rtl="0">
              <a:spcBef>
                <a:spcPts val="590"/>
              </a:spcBef>
              <a:spcAft>
                <a:spcPts val="0"/>
              </a:spcAft>
              <a:buClr>
                <a:schemeClr val="dk1"/>
              </a:buClr>
              <a:buSzPct val="100000"/>
              <a:buNone/>
            </a:pPr>
          </a:p>
          <a:p>
            <a:pPr marL="342900" lvl="0" indent="-342900" algn="l" rtl="0">
              <a:spcBef>
                <a:spcPts val="590"/>
              </a:spcBef>
              <a:spcAft>
                <a:spcPts val="0"/>
              </a:spcAft>
              <a:buClr>
                <a:schemeClr val="dk1"/>
              </a:buClr>
              <a:buSzPct val="100000"/>
              <a:buChar char="•"/>
            </a:pPr>
            <a:r>
              <a:rPr lang="en-US"/>
              <a:t>From the DevOps perspective, eliminating the divide between support and development assimilates the software user experience into smoothly-coordinated interactions.</a:t>
            </a:r>
            <a:endParaRPr lang="en-US"/>
          </a:p>
          <a:p>
            <a:pPr marL="342900" lvl="0" indent="-154940" algn="l" rtl="0">
              <a:spcBef>
                <a:spcPts val="590"/>
              </a:spcBef>
              <a:spcAft>
                <a:spcPts val="0"/>
              </a:spcAft>
              <a:buClr>
                <a:schemeClr val="dk1"/>
              </a:buClr>
              <a:buSzPct val="100000"/>
              <a:buNone/>
            </a:pPr>
          </a:p>
          <a:p>
            <a:pPr marL="342900" lvl="0" indent="-154940" algn="l" rtl="0">
              <a:spcBef>
                <a:spcPts val="590"/>
              </a:spcBef>
              <a:spcAft>
                <a:spcPts val="0"/>
              </a:spcAft>
              <a:buClr>
                <a:schemeClr val="dk1"/>
              </a:buClr>
              <a:buSzPct val="100000"/>
              <a:buNone/>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u="sng">
                <a:solidFill>
                  <a:schemeClr val="hlink"/>
                </a:solidFill>
                <a:hlinkClick r:id="rId1"/>
              </a:rPr>
              <a:t>Trend 2: from stability to agility</a:t>
            </a:r>
            <a:br>
              <a:rPr lang="en-US" u="sng"/>
            </a:br>
            <a:endParaRPr lang="en-US" u="sng"/>
          </a:p>
        </p:txBody>
      </p:sp>
      <p:sp>
        <p:nvSpPr>
          <p:cNvPr id="163" name="Google Shape;163;p26"/>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55000" lnSpcReduction="20000"/>
          </a:bodyPr>
          <a:lstStyle/>
          <a:p>
            <a:pPr marL="342900" lvl="0" indent="-342900" algn="l" rtl="0">
              <a:spcBef>
                <a:spcPts val="0"/>
              </a:spcBef>
              <a:spcAft>
                <a:spcPts val="0"/>
              </a:spcAft>
              <a:buClr>
                <a:schemeClr val="dk1"/>
              </a:buClr>
              <a:buSzPct val="100000"/>
              <a:buChar char="•"/>
            </a:pPr>
            <a:r>
              <a:rPr lang="en-US"/>
              <a:t>As the speed of production increases, companies are challenged to adapt their go to market approach. </a:t>
            </a:r>
            <a:endParaRPr lang="en-US"/>
          </a:p>
          <a:p>
            <a:pPr marL="342900" lvl="0" indent="-342900" algn="l" rtl="0">
              <a:spcBef>
                <a:spcPts val="350"/>
              </a:spcBef>
              <a:spcAft>
                <a:spcPts val="0"/>
              </a:spcAft>
              <a:buClr>
                <a:schemeClr val="dk1"/>
              </a:buClr>
              <a:buSzPct val="100000"/>
              <a:buChar char="•"/>
            </a:pPr>
            <a:r>
              <a:rPr lang="en-US"/>
              <a:t>Faster innovations in technology also speed up the demand for shorter production cycles, increased frequency in delivery, and inventive design. </a:t>
            </a:r>
            <a:endParaRPr lang="en-US"/>
          </a:p>
          <a:p>
            <a:pPr marL="342900" lvl="0" indent="-231140" algn="l" rtl="0">
              <a:spcBef>
                <a:spcPts val="350"/>
              </a:spcBef>
              <a:spcAft>
                <a:spcPts val="0"/>
              </a:spcAft>
              <a:buClr>
                <a:schemeClr val="dk1"/>
              </a:buClr>
              <a:buSzPct val="100000"/>
              <a:buNone/>
            </a:pPr>
          </a:p>
          <a:p>
            <a:pPr marL="342900" lvl="0" indent="-342900" algn="l" rtl="0">
              <a:spcBef>
                <a:spcPts val="350"/>
              </a:spcBef>
              <a:spcAft>
                <a:spcPts val="0"/>
              </a:spcAft>
              <a:buClr>
                <a:schemeClr val="dk1"/>
              </a:buClr>
              <a:buSzPct val="100000"/>
              <a:buChar char="•"/>
            </a:pPr>
            <a:r>
              <a:rPr lang="en-US"/>
              <a:t>Internet technology and the advent of social media have put the consumer at the center of production, such that marketing and advertising functions now respond to consumer behavior rather than activate it.</a:t>
            </a:r>
            <a:endParaRPr lang="en-US"/>
          </a:p>
          <a:p>
            <a:pPr marL="342900" lvl="0" indent="-342900" algn="l" rtl="0">
              <a:spcBef>
                <a:spcPts val="350"/>
              </a:spcBef>
              <a:spcAft>
                <a:spcPts val="0"/>
              </a:spcAft>
              <a:buClr>
                <a:schemeClr val="dk1"/>
              </a:buClr>
              <a:buSzPct val="100000"/>
              <a:buChar char="•"/>
            </a:pPr>
            <a:r>
              <a:rPr lang="en-US"/>
              <a:t>Marketing is changing its previous method of driving behavior to one of adhering to behavioral demands. </a:t>
            </a:r>
            <a:endParaRPr lang="en-US"/>
          </a:p>
          <a:p>
            <a:pPr marL="342900" lvl="0" indent="-231140" algn="l" rtl="0">
              <a:spcBef>
                <a:spcPts val="350"/>
              </a:spcBef>
              <a:spcAft>
                <a:spcPts val="0"/>
              </a:spcAft>
              <a:buClr>
                <a:schemeClr val="dk1"/>
              </a:buClr>
              <a:buSzPct val="100000"/>
              <a:buNone/>
            </a:pPr>
          </a:p>
          <a:p>
            <a:pPr marL="342900" lvl="0" indent="-342900" algn="l" rtl="0">
              <a:spcBef>
                <a:spcPts val="350"/>
              </a:spcBef>
              <a:spcAft>
                <a:spcPts val="0"/>
              </a:spcAft>
              <a:buClr>
                <a:schemeClr val="dk1"/>
              </a:buClr>
              <a:buSzPct val="100000"/>
              <a:buChar char="•"/>
            </a:pPr>
            <a:r>
              <a:rPr lang="en-US"/>
              <a:t>From the corporation as a whole to the individual employee, companies must empower creative responsiveness and minimize any waste that impedes action. </a:t>
            </a:r>
            <a:endParaRPr lang="en-US"/>
          </a:p>
          <a:p>
            <a:pPr marL="342900" lvl="0" indent="-231140" algn="l" rtl="0">
              <a:spcBef>
                <a:spcPts val="350"/>
              </a:spcBef>
              <a:spcAft>
                <a:spcPts val="0"/>
              </a:spcAft>
              <a:buClr>
                <a:schemeClr val="dk1"/>
              </a:buClr>
              <a:buSzPct val="100000"/>
              <a:buNone/>
            </a:pPr>
          </a:p>
          <a:p>
            <a:pPr marL="342900" lvl="0" indent="-342900" algn="l" rtl="0">
              <a:spcBef>
                <a:spcPts val="350"/>
              </a:spcBef>
              <a:spcAft>
                <a:spcPts val="0"/>
              </a:spcAft>
              <a:buClr>
                <a:schemeClr val="dk1"/>
              </a:buClr>
              <a:buSzPct val="100000"/>
              <a:buChar char="•"/>
            </a:pPr>
            <a:r>
              <a:rPr lang="en-US"/>
              <a:t>Work cycles must be shortened, frequency in delivery increased, and an attitude of continual innovation adopted.</a:t>
            </a:r>
            <a:endParaRPr lang="en-US"/>
          </a:p>
          <a:p>
            <a:pPr marL="342900" lvl="0" indent="-231140" algn="l" rtl="0">
              <a:spcBef>
                <a:spcPts val="350"/>
              </a:spcBef>
              <a:spcAft>
                <a:spcPts val="0"/>
              </a:spcAft>
              <a:buClr>
                <a:schemeClr val="dk1"/>
              </a:buClr>
              <a:buSzPct val="100000"/>
              <a:buNone/>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67" name="Shape 167"/>
        <p:cNvGrpSpPr/>
        <p:nvPr/>
      </p:nvGrpSpPr>
      <p:grpSpPr>
        <a:xfrm>
          <a:off x="0" y="0"/>
          <a:ext cx="0" cy="0"/>
          <a:chOff x="0" y="0"/>
          <a:chExt cx="0" cy="0"/>
        </a:xfrm>
      </p:grpSpPr>
      <p:sp>
        <p:nvSpPr>
          <p:cNvPr id="168" name="Google Shape;168;p2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What to do about it:</a:t>
            </a:r>
            <a:endParaRPr lang="en-US" b="1"/>
          </a:p>
        </p:txBody>
      </p:sp>
      <p:sp>
        <p:nvSpPr>
          <p:cNvPr id="169" name="Google Shape;169;p27"/>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62500" lnSpcReduction="20000"/>
          </a:bodyPr>
          <a:lstStyle/>
          <a:p>
            <a:pPr marL="342900" lvl="0" indent="-342900" algn="l" rtl="0">
              <a:spcBef>
                <a:spcPts val="0"/>
              </a:spcBef>
              <a:spcAft>
                <a:spcPts val="0"/>
              </a:spcAft>
              <a:buClr>
                <a:schemeClr val="dk1"/>
              </a:buClr>
              <a:buSzPct val="100000"/>
              <a:buChar char="•"/>
            </a:pPr>
            <a:r>
              <a:rPr lang="en-US"/>
              <a:t> From development to production, IT organizations require flexible platforms to enable software as a service. </a:t>
            </a:r>
            <a:endParaRPr lang="en-US"/>
          </a:p>
          <a:p>
            <a:pPr marL="342900" lvl="0" indent="-215900" algn="l" rtl="0">
              <a:spcBef>
                <a:spcPts val="400"/>
              </a:spcBef>
              <a:spcAft>
                <a:spcPts val="0"/>
              </a:spcAft>
              <a:buClr>
                <a:schemeClr val="dk1"/>
              </a:buClr>
              <a:buSzPct val="100000"/>
              <a:buNone/>
            </a:pPr>
          </a:p>
          <a:p>
            <a:pPr marL="342900" lvl="0" indent="-342900" algn="l" rtl="0">
              <a:spcBef>
                <a:spcPts val="400"/>
              </a:spcBef>
              <a:spcAft>
                <a:spcPts val="0"/>
              </a:spcAft>
              <a:buClr>
                <a:schemeClr val="dk1"/>
              </a:buClr>
              <a:buSzPct val="100000"/>
              <a:buChar char="•"/>
            </a:pPr>
            <a:r>
              <a:rPr lang="en-US"/>
              <a:t>Increased responsibility in managing software requires that organizations achieve software delivery with the speed and agility administered by the coordinated functions of DevOps methodologies and cloud operations. </a:t>
            </a:r>
            <a:endParaRPr lang="en-US"/>
          </a:p>
          <a:p>
            <a:pPr marL="342900" lvl="0" indent="-215900" algn="l" rtl="0">
              <a:spcBef>
                <a:spcPts val="400"/>
              </a:spcBef>
              <a:spcAft>
                <a:spcPts val="0"/>
              </a:spcAft>
              <a:buClr>
                <a:schemeClr val="dk1"/>
              </a:buClr>
              <a:buSzPct val="100000"/>
              <a:buNone/>
            </a:pPr>
          </a:p>
          <a:p>
            <a:pPr marL="342900" lvl="0" indent="-342900" algn="l" rtl="0">
              <a:spcBef>
                <a:spcPts val="400"/>
              </a:spcBef>
              <a:spcAft>
                <a:spcPts val="0"/>
              </a:spcAft>
              <a:buClr>
                <a:schemeClr val="dk1"/>
              </a:buClr>
              <a:buSzPct val="100000"/>
              <a:buChar char="•"/>
            </a:pPr>
            <a:r>
              <a:rPr lang="en-US"/>
              <a:t>Flexibility in enterprise priorities provided by DevOps couples with facilitated cloud operations to determine quality outcomes in user experience. </a:t>
            </a:r>
            <a:endParaRPr lang="en-US"/>
          </a:p>
          <a:p>
            <a:pPr marL="342900" lvl="0" indent="-215900" algn="l" rtl="0">
              <a:spcBef>
                <a:spcPts val="400"/>
              </a:spcBef>
              <a:spcAft>
                <a:spcPts val="0"/>
              </a:spcAft>
              <a:buClr>
                <a:schemeClr val="dk1"/>
              </a:buClr>
              <a:buSzPct val="100000"/>
              <a:buNone/>
            </a:pPr>
          </a:p>
          <a:p>
            <a:pPr marL="342900" lvl="0" indent="-342900" algn="l" rtl="0">
              <a:spcBef>
                <a:spcPts val="400"/>
              </a:spcBef>
              <a:spcAft>
                <a:spcPts val="0"/>
              </a:spcAft>
              <a:buClr>
                <a:schemeClr val="dk1"/>
              </a:buClr>
              <a:buSzPct val="100000"/>
              <a:buChar char="•"/>
            </a:pPr>
            <a:r>
              <a:rPr lang="en-US"/>
              <a:t>From enterprise prerogatives to shifts in development, businesses gain marketplace advantage through the utilization of both cross-department collaboration and cross-functional operations  between methodology and user operations.</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73" name="Shape 173"/>
        <p:cNvGrpSpPr/>
        <p:nvPr/>
      </p:nvGrpSpPr>
      <p:grpSpPr>
        <a:xfrm>
          <a:off x="0" y="0"/>
          <a:ext cx="0" cy="0"/>
          <a:chOff x="0" y="0"/>
          <a:chExt cx="0" cy="0"/>
        </a:xfrm>
      </p:grpSpPr>
      <p:sp>
        <p:nvSpPr>
          <p:cNvPr id="174" name="Google Shape;174;p28"/>
          <p:cNvSpPr txBox="1"/>
          <p:nvPr>
            <p:ph type="title"/>
          </p:nvPr>
        </p:nvSpPr>
        <p:spPr>
          <a:xfrm>
            <a:off x="609600" y="762000"/>
            <a:ext cx="8077200" cy="12192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u="sng">
                <a:solidFill>
                  <a:schemeClr val="hlink"/>
                </a:solidFill>
                <a:hlinkClick r:id="rId1"/>
              </a:rPr>
              <a:t>Trend 3: Digital integrates with material</a:t>
            </a:r>
            <a:br>
              <a:rPr lang="en-US" u="sng"/>
            </a:br>
            <a:br>
              <a:rPr lang="en-US" u="sng"/>
            </a:br>
            <a:endParaRPr lang="en-US" u="sng"/>
          </a:p>
        </p:txBody>
      </p:sp>
      <p:sp>
        <p:nvSpPr>
          <p:cNvPr id="175" name="Google Shape;175;p28"/>
          <p:cNvSpPr txBox="1"/>
          <p:nvPr>
            <p:ph type="body" idx="1"/>
          </p:nvPr>
        </p:nvSpPr>
        <p:spPr>
          <a:xfrm>
            <a:off x="457200" y="1524000"/>
            <a:ext cx="8229600" cy="4602163"/>
          </a:xfrm>
          <a:prstGeom prst="rect">
            <a:avLst/>
          </a:prstGeom>
          <a:noFill/>
          <a:ln>
            <a:noFill/>
          </a:ln>
        </p:spPr>
        <p:txBody>
          <a:bodyPr spcFirstLastPara="1" wrap="square" lIns="91425" tIns="45700" rIns="91425" bIns="45700" anchor="t" anchorCtr="0">
            <a:normAutofit/>
          </a:bodyPr>
          <a:lstStyle/>
          <a:p>
            <a:pPr marL="342900" lvl="0" indent="-342900" algn="l" rtl="0">
              <a:lnSpc>
                <a:spcPct val="80000"/>
              </a:lnSpc>
              <a:spcBef>
                <a:spcPts val="0"/>
              </a:spcBef>
              <a:spcAft>
                <a:spcPts val="0"/>
              </a:spcAft>
              <a:buClr>
                <a:schemeClr val="dk1"/>
              </a:buClr>
              <a:buSzPts val="2000"/>
              <a:buChar char="•"/>
            </a:pPr>
            <a:r>
              <a:rPr lang="en-US" sz="2000"/>
              <a:t>If Apple has taught us anything, it is that hardware and software must work together. </a:t>
            </a:r>
            <a:endParaRPr lang="en-US" sz="2000"/>
          </a:p>
          <a:p>
            <a:pPr marL="342900" lvl="0" indent="-215900" algn="l" rtl="0">
              <a:lnSpc>
                <a:spcPct val="80000"/>
              </a:lnSpc>
              <a:spcBef>
                <a:spcPts val="400"/>
              </a:spcBef>
              <a:spcAft>
                <a:spcPts val="0"/>
              </a:spcAft>
              <a:buClr>
                <a:schemeClr val="dk1"/>
              </a:buClr>
              <a:buSzPts val="2000"/>
              <a:buNone/>
            </a:pPr>
            <a:endParaRPr sz="2000"/>
          </a:p>
          <a:p>
            <a:pPr marL="342900" lvl="0" indent="-342900" algn="l" rtl="0">
              <a:lnSpc>
                <a:spcPct val="80000"/>
              </a:lnSpc>
              <a:spcBef>
                <a:spcPts val="400"/>
              </a:spcBef>
              <a:spcAft>
                <a:spcPts val="0"/>
              </a:spcAft>
              <a:buClr>
                <a:schemeClr val="dk1"/>
              </a:buClr>
              <a:buSzPts val="2000"/>
              <a:buChar char="•"/>
            </a:pPr>
            <a:r>
              <a:rPr lang="en-US" sz="2000"/>
              <a:t>The meteoric adoption of Apple products around the globe not only speaks to consumer desires for high quality physical devices, but also seamless and powerful software to go with it. </a:t>
            </a:r>
            <a:endParaRPr lang="en-US" sz="2000"/>
          </a:p>
          <a:p>
            <a:pPr marL="342900" lvl="0" indent="-215900" algn="l" rtl="0">
              <a:lnSpc>
                <a:spcPct val="80000"/>
              </a:lnSpc>
              <a:spcBef>
                <a:spcPts val="400"/>
              </a:spcBef>
              <a:spcAft>
                <a:spcPts val="0"/>
              </a:spcAft>
              <a:buClr>
                <a:schemeClr val="dk1"/>
              </a:buClr>
              <a:buSzPts val="2000"/>
              <a:buNone/>
            </a:pPr>
            <a:endParaRPr sz="2000"/>
          </a:p>
          <a:p>
            <a:pPr marL="342900" lvl="0" indent="-215900" algn="l" rtl="0">
              <a:lnSpc>
                <a:spcPct val="80000"/>
              </a:lnSpc>
              <a:spcBef>
                <a:spcPts val="400"/>
              </a:spcBef>
              <a:spcAft>
                <a:spcPts val="0"/>
              </a:spcAft>
              <a:buClr>
                <a:schemeClr val="dk1"/>
              </a:buClr>
              <a:buSzPts val="2000"/>
              <a:buNone/>
            </a:pPr>
            <a:endParaRPr sz="2000"/>
          </a:p>
          <a:p>
            <a:pPr marL="342900" lvl="0" indent="-342900" algn="l" rtl="0">
              <a:lnSpc>
                <a:spcPct val="80000"/>
              </a:lnSpc>
              <a:spcBef>
                <a:spcPts val="400"/>
              </a:spcBef>
              <a:spcAft>
                <a:spcPts val="0"/>
              </a:spcAft>
              <a:buClr>
                <a:schemeClr val="dk1"/>
              </a:buClr>
              <a:buSzPts val="2000"/>
              <a:buChar char="•"/>
            </a:pPr>
            <a:r>
              <a:rPr lang="en-US" sz="2000"/>
              <a:t>In the world of the cloud, it is impossible to separate one from the other.</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79" name="Shape 179"/>
        <p:cNvGrpSpPr/>
        <p:nvPr/>
      </p:nvGrpSpPr>
      <p:grpSpPr>
        <a:xfrm>
          <a:off x="0" y="0"/>
          <a:ext cx="0" cy="0"/>
          <a:chOff x="0" y="0"/>
          <a:chExt cx="0" cy="0"/>
        </a:xfrm>
      </p:grpSpPr>
      <p:sp>
        <p:nvSpPr>
          <p:cNvPr id="180" name="Google Shape;180;p29"/>
          <p:cNvSpPr txBox="1"/>
          <p:nvPr>
            <p:ph type="title"/>
          </p:nvPr>
        </p:nvSpPr>
        <p:spPr>
          <a:xfrm>
            <a:off x="457200" y="274638"/>
            <a:ext cx="8229600" cy="7159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b="1"/>
              <a:t>What to do about it:</a:t>
            </a:r>
            <a:endParaRPr lang="en-US" b="1"/>
          </a:p>
        </p:txBody>
      </p:sp>
      <p:sp>
        <p:nvSpPr>
          <p:cNvPr id="181" name="Google Shape;181;p29"/>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a:bodyPr>
          <a:lstStyle/>
          <a:p>
            <a:pPr marL="342900" lvl="0" indent="-342900" algn="l" rtl="0">
              <a:spcBef>
                <a:spcPts val="0"/>
              </a:spcBef>
              <a:spcAft>
                <a:spcPts val="0"/>
              </a:spcAft>
              <a:buClr>
                <a:schemeClr val="dk1"/>
              </a:buClr>
              <a:buSzPct val="100000"/>
              <a:buChar char="•"/>
            </a:pPr>
            <a:r>
              <a:rPr lang="en-US"/>
              <a:t> Business must adapt to the integration of digital application with material mechanisms. </a:t>
            </a:r>
            <a:endParaRPr lang="en-US"/>
          </a:p>
          <a:p>
            <a:pPr marL="342900" lvl="0" indent="-342900" algn="l" rtl="0">
              <a:spcBef>
                <a:spcPts val="590"/>
              </a:spcBef>
              <a:spcAft>
                <a:spcPts val="0"/>
              </a:spcAft>
              <a:buClr>
                <a:schemeClr val="dk1"/>
              </a:buClr>
              <a:buSzPct val="100000"/>
              <a:buChar char="•"/>
            </a:pPr>
            <a:r>
              <a:rPr lang="en-US"/>
              <a:t>While users expect continuous reliability and innovation in software development (DevOps), they also demand quality and ease of use through operational performance (cloud). </a:t>
            </a:r>
            <a:endParaRPr lang="en-US"/>
          </a:p>
          <a:p>
            <a:pPr marL="342900" lvl="0" indent="-342900" algn="l" rtl="0">
              <a:spcBef>
                <a:spcPts val="590"/>
              </a:spcBef>
              <a:spcAft>
                <a:spcPts val="0"/>
              </a:spcAft>
              <a:buClr>
                <a:schemeClr val="dk1"/>
              </a:buClr>
              <a:buSzPct val="100000"/>
              <a:buChar char="•"/>
            </a:pPr>
            <a:r>
              <a:rPr lang="en-US"/>
              <a:t>DevOps methodology therefore combines with powerful cloud execution to integrate delivery in meeting user expectations.</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85" name="Shape 185"/>
        <p:cNvGrpSpPr/>
        <p:nvPr/>
      </p:nvGrpSpPr>
      <p:grpSpPr>
        <a:xfrm>
          <a:off x="0" y="0"/>
          <a:ext cx="0" cy="0"/>
          <a:chOff x="0" y="0"/>
          <a:chExt cx="0" cy="0"/>
        </a:xfrm>
      </p:grpSpPr>
      <p:sp>
        <p:nvSpPr>
          <p:cNvPr id="186" name="Google Shape;186;p30"/>
          <p:cNvSpPr txBox="1"/>
          <p:nvPr>
            <p:ph type="body" idx="1"/>
          </p:nvPr>
        </p:nvSpPr>
        <p:spPr>
          <a:xfrm>
            <a:off x="457200" y="1600201"/>
            <a:ext cx="8229600" cy="2743200"/>
          </a:xfrm>
          <a:prstGeom prst="rect">
            <a:avLst/>
          </a:prstGeom>
          <a:noFill/>
          <a:ln>
            <a:noFill/>
          </a:ln>
        </p:spPr>
        <p:txBody>
          <a:bodyPr spcFirstLastPara="1" wrap="square" lIns="91425" tIns="45700" rIns="91425" bIns="45700" anchor="t" anchorCtr="0">
            <a:normAutofit fontScale="55000" lnSpcReduction="20000"/>
          </a:bodyPr>
          <a:lstStyle/>
          <a:p>
            <a:pPr marL="342900" lvl="0" indent="0" algn="ctr" rtl="0">
              <a:spcBef>
                <a:spcPts val="0"/>
              </a:spcBef>
              <a:spcAft>
                <a:spcPts val="0"/>
              </a:spcAft>
              <a:buClr>
                <a:schemeClr val="dk1"/>
              </a:buClr>
              <a:buSzPct val="100000"/>
              <a:buNone/>
            </a:pPr>
            <a:endParaRPr sz="16600"/>
          </a:p>
          <a:p>
            <a:pPr marL="0" lvl="0" indent="0" algn="ctr" rtl="0">
              <a:spcBef>
                <a:spcPts val="1825"/>
              </a:spcBef>
              <a:spcAft>
                <a:spcPts val="0"/>
              </a:spcAft>
              <a:buClr>
                <a:schemeClr val="dk1"/>
              </a:buClr>
              <a:buSzPct val="100000"/>
              <a:buNone/>
            </a:pPr>
            <a:r>
              <a:rPr lang="en-US" sz="16600"/>
              <a:t>Thanks </a:t>
            </a:r>
            <a:endParaRPr sz="166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6737</Words>
  <Application>WPS Writer</Application>
  <PresentationFormat/>
  <Paragraphs>113</Paragraphs>
  <Slides>18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SimSun</vt:lpstr>
      <vt:lpstr>Wingdings</vt:lpstr>
      <vt:lpstr>Arial</vt:lpstr>
      <vt:lpstr>Calibri</vt:lpstr>
      <vt:lpstr>Helvetica Neue</vt:lpstr>
      <vt:lpstr>Microsoft YaHei</vt:lpstr>
      <vt:lpstr>汉仪旗黑</vt:lpstr>
      <vt:lpstr>Arial Unicode MS</vt:lpstr>
      <vt:lpstr>Office Theme</vt:lpstr>
      <vt:lpstr>Topic: Why we need DevOps on cloud</vt:lpstr>
      <vt:lpstr>PowerPoint 演示文稿</vt:lpstr>
      <vt:lpstr>Cloud Computing and the DevOps Approach </vt:lpstr>
      <vt:lpstr>PowerPoint 演示文稿</vt:lpstr>
      <vt:lpstr>PowerPoint 演示文稿</vt:lpstr>
      <vt:lpstr>PowerPoint 演示文稿</vt:lpstr>
      <vt:lpstr>Applying DevOps Benefits </vt:lpstr>
      <vt:lpstr>PowerPoint 演示文稿</vt:lpstr>
      <vt:lpstr>PowerPoint 演示文稿</vt:lpstr>
      <vt:lpstr>PowerPoint 演示文稿</vt:lpstr>
      <vt:lpstr>3 trends that show how a DevOps and cloud approach is needed in the technology market today</vt:lpstr>
      <vt:lpstr>Trend 1: the move from product to service </vt:lpstr>
      <vt:lpstr>What to do about it:</vt:lpstr>
      <vt:lpstr>Trend 2: from stability to agility </vt:lpstr>
      <vt:lpstr>What to do about it:</vt:lpstr>
      <vt:lpstr>Trend 3: Digital integrates with material  </vt:lpstr>
      <vt:lpstr>What to do about it: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Why we need DevOps on cloud</dc:title>
  <dc:creator/>
  <cp:lastModifiedBy>Divya Thakur</cp:lastModifiedBy>
  <cp:revision>1</cp:revision>
  <dcterms:created xsi:type="dcterms:W3CDTF">2024-09-03T05:43:23Z</dcterms:created>
  <dcterms:modified xsi:type="dcterms:W3CDTF">2024-09-03T05:43:23Z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1033-5.7.1.8092</vt:lpwstr>
  </property>
</Properties>
</file>